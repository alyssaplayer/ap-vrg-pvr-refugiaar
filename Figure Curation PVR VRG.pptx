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13"/>
    <p:restoredTop sz="94663"/>
  </p:normalViewPr>
  <p:slideViewPr>
    <p:cSldViewPr snapToGrid="0">
      <p:cViewPr>
        <p:scale>
          <a:sx n="92" d="100"/>
          <a:sy n="92" d="100"/>
        </p:scale>
        <p:origin x="2136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4BCE-FD73-3E78-84B0-2A6CB56E8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D7DDC-0B3E-9386-CDD3-984B56D46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E298B-61AC-8A1D-B212-216D64CB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AD92B-A760-6B44-9741-95BC4247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2DDC4-EA6F-18EB-3CCA-009CF214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9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41611-6211-2F6B-CD36-33B9A309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4CD94-BB99-2650-9A53-526267AB6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B86B5-42F5-520A-23A3-3666233A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51435-44A2-D9C6-ECBD-048C5345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CF736-81E2-9E0C-F192-6FD19D0D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1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6CC8-5F8A-8B68-BC1F-972CCD40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008A7-C884-DC2A-6676-B5F98F163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5782E-BDBA-519D-979F-D2A713C3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03252-0FE8-6B1F-ECC9-96D6010E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0FC03-525F-8214-64F6-2C0325C5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5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41B3-775F-CAC4-2EC9-9732B5AD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3C7A8-5FCC-3C25-A41E-00A5E8442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CC3B7-4E6C-F1BE-814B-34843DB4B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68BF3-4ED6-66A3-C511-9344697D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4B665-4C44-FC1F-FFA4-A5732E760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D4B50-64E2-B1C7-4306-A0D799FE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1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37CB-EE4E-5171-1192-8F72A9701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9D2E8-CEA5-B14C-6529-7A30077C9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7B4C2-BD55-841D-E996-1E962035D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1203E0-DC5F-444D-91AE-6E089AA67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DCB47-9361-D3B8-4422-D98BF4DE5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A1114-A6B0-9426-5378-1451B58C2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BD8F7F-B378-F225-741D-3188AF006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071E70-D7F6-FEC4-C393-D8971463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89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889C-1C9C-3CE8-D814-09D8860B1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42DF2-370F-D862-CDEB-B9C1598C1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A3AFF-248B-539E-CF1E-C6106EF1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5186A-F191-60EF-1240-F4ACFBC5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12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0AC77-30E9-FB35-D2DF-9FD88B68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82198E-FB85-2697-70C2-A260B613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87833-66B7-1008-C854-C7F8EF363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7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09ED8-61E4-A333-C5EB-04BE831CD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5AE65-2F55-C042-502D-FB1D25A0F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F689F-DDF1-37BD-FD77-74B09A973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C32A6-C355-0557-4A00-B387AF77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61002-089D-C947-8D17-0E7482387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78FFB-2070-9AAF-8E91-3EB95DF5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30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5D92-7C64-452E-60B3-227A9401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7CE46-4F6C-0D36-34E9-3F77A5A9A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FB6CF-5CB0-0AEE-A828-BBF0A1705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15943-8111-A315-EC44-E9E9115CE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2BF0-0F26-0E08-80DC-32E488C00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AC0AB-45FD-AFE8-35CB-A3E45AF9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2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B1F0-6EA5-F97B-027D-15B07897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42DF2C-D99F-9551-D703-234E6BCCA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A0904-0C6C-6923-A812-06B86023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A4609-6A63-1F06-D138-6D21E69E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30F9-BE64-50B4-706D-14315A23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5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5B28D-128E-94B7-CA50-AFE440C1D7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6D9FB-D8FE-55CA-7FD8-64B54A00C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636F9-5D08-9EE8-0E7C-217BB0F1B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8A4A8-9F35-2C8E-E43D-E7774FBB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06989-50FC-AFBA-5DB1-9E722FE76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5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7445B-85F2-E6DB-CF3F-BDC13665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DFE97-2281-3A9F-18D5-81C7DA0D9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2FAB5-C7A0-491D-A7D3-081E59556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5705E7-67D0-814A-BC5D-0144C325E313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367-9385-22E4-593F-8F93B96D0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DE288-B944-E292-4D11-7FB514277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095A3-37F3-EB4C-B355-55C9FA3C1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4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15C732-669E-73C5-6ECE-58DB5C841657}"/>
              </a:ext>
            </a:extLst>
          </p:cNvPr>
          <p:cNvSpPr txBox="1"/>
          <p:nvPr/>
        </p:nvSpPr>
        <p:spPr>
          <a:xfrm>
            <a:off x="3052482" y="3244334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CA9235-F464-7BE4-B211-556D9743E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1"/>
            <a:ext cx="2548890" cy="31123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7B6D9A-AD92-CAB5-4475-B3CA893CD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2" y="3259574"/>
            <a:ext cx="2656939" cy="32443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76FD4A-CD88-ABBF-34FF-950CF78546AB}"/>
              </a:ext>
            </a:extLst>
          </p:cNvPr>
          <p:cNvSpPr txBox="1"/>
          <p:nvPr/>
        </p:nvSpPr>
        <p:spPr>
          <a:xfrm>
            <a:off x="3048000" y="32595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BF5D76-FCD0-088C-4666-F61E9BB8399B}"/>
              </a:ext>
            </a:extLst>
          </p:cNvPr>
          <p:cNvSpPr txBox="1"/>
          <p:nvPr/>
        </p:nvSpPr>
        <p:spPr>
          <a:xfrm>
            <a:off x="3048990" y="3247303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A535E8E-CDCE-CDF0-2792-118F5BEFE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3641177"/>
            <a:ext cx="7772400" cy="29629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F3BF66A-C883-3735-C57E-E8D8A0AA2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1320" y="267585"/>
            <a:ext cx="7772400" cy="296299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5C4D349-5833-6DAC-48B1-5C31E3D07851}"/>
              </a:ext>
            </a:extLst>
          </p:cNvPr>
          <p:cNvSpPr txBox="1"/>
          <p:nvPr/>
        </p:nvSpPr>
        <p:spPr>
          <a:xfrm>
            <a:off x="10557587" y="220810"/>
            <a:ext cx="163441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AIC: 4733</a:t>
            </a:r>
          </a:p>
          <a:p>
            <a:pPr marL="171450" indent="-171450" fontAlgn="base">
              <a:buFontTx/>
              <a:buChar char="-"/>
            </a:pPr>
            <a:r>
              <a:rPr lang="en-US" sz="1000" dirty="0"/>
              <a:t>Urchin density responds to habitat differently depending on both era and site category </a:t>
            </a:r>
          </a:p>
          <a:p>
            <a:pPr fontAlgn="base"/>
            <a:endParaRPr lang="en-US" sz="1000" dirty="0"/>
          </a:p>
          <a:p>
            <a:pPr fontAlgn="base"/>
            <a:r>
              <a:rPr lang="en-US" sz="1000" dirty="0"/>
              <a:t>- The strongest signal comes from relief index </a:t>
            </a:r>
          </a:p>
          <a:p>
            <a:pPr fontAlgn="base"/>
            <a:endParaRPr lang="en-US" sz="1000" dirty="0"/>
          </a:p>
          <a:p>
            <a:pPr marL="171450" indent="-171450" fontAlgn="base">
              <a:buFontTx/>
              <a:buChar char="-"/>
            </a:pPr>
            <a:r>
              <a:rPr lang="en-US" sz="1000" dirty="0"/>
              <a:t>Higher relief suppresses density at MPA / PVR Adj sites </a:t>
            </a:r>
          </a:p>
          <a:p>
            <a:pPr fontAlgn="base"/>
            <a:endParaRPr lang="en-US" sz="1000" dirty="0"/>
          </a:p>
          <a:p>
            <a:pPr fontAlgn="base"/>
            <a:r>
              <a:rPr lang="en-US" sz="1000" dirty="0"/>
              <a:t>- PVR Adj x Era interaction is meaningful -&gt; era-driven changes are tied to structural complexity </a:t>
            </a:r>
          </a:p>
          <a:p>
            <a:endParaRPr 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8C8A62-70D0-BB7F-7DE0-E84B5A03918D}"/>
              </a:ext>
            </a:extLst>
          </p:cNvPr>
          <p:cNvSpPr txBox="1"/>
          <p:nvPr/>
        </p:nvSpPr>
        <p:spPr>
          <a:xfrm>
            <a:off x="10557587" y="3613666"/>
            <a:ext cx="1377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AIC: 3276</a:t>
            </a:r>
          </a:p>
          <a:p>
            <a:endParaRPr lang="en-US" sz="1000" dirty="0"/>
          </a:p>
          <a:p>
            <a:r>
              <a:rPr lang="en-US" sz="1000" dirty="0"/>
              <a:t>-Relief index is the dominant driver (except for at non-MPA sites) 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5843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EEF8-E9BD-1DD5-16DE-E51E6546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0BFC7E-89FB-FE4A-F96A-60A8158656F4}"/>
              </a:ext>
            </a:extLst>
          </p:cNvPr>
          <p:cNvSpPr txBox="1"/>
          <p:nvPr/>
        </p:nvSpPr>
        <p:spPr>
          <a:xfrm>
            <a:off x="3052482" y="3244334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4E857F-B1B0-CFD4-A76F-AB847F4CA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10" y="2825526"/>
            <a:ext cx="2246106" cy="2742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20462A-5558-F790-3F11-921190BB0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301" y="2617686"/>
            <a:ext cx="2586525" cy="3158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0B0797-F668-3158-6962-8C8291031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41" y="63669"/>
            <a:ext cx="2246106" cy="27426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DF2D79-7F83-F6D9-CE9E-22F64F1EF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9600" y="112444"/>
            <a:ext cx="5095113" cy="26421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336F1C-C1EC-76D3-0B0A-65B0BB3E90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699" y="2806343"/>
            <a:ext cx="5095112" cy="26421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E451CC0-4B47-7E66-73F9-22434717FCA8}"/>
              </a:ext>
            </a:extLst>
          </p:cNvPr>
          <p:cNvSpPr txBox="1"/>
          <p:nvPr/>
        </p:nvSpPr>
        <p:spPr>
          <a:xfrm>
            <a:off x="7780097" y="112444"/>
            <a:ext cx="137734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AIC: 1411</a:t>
            </a:r>
          </a:p>
          <a:p>
            <a:pPr marL="171450" indent="-171450" fontAlgn="base">
              <a:buFontTx/>
              <a:buChar char="-"/>
            </a:pPr>
            <a:r>
              <a:rPr lang="en-US" sz="1000" dirty="0"/>
              <a:t>Habitat effects differ by era but not by site category </a:t>
            </a:r>
          </a:p>
          <a:p>
            <a:pPr marL="171450" indent="-171450" fontAlgn="base">
              <a:buFontTx/>
              <a:buChar char="-"/>
            </a:pPr>
            <a:endParaRPr lang="en-US" sz="1000" dirty="0"/>
          </a:p>
          <a:p>
            <a:pPr marL="171450" indent="-171450" fontAlgn="base">
              <a:buFontTx/>
              <a:buChar char="-"/>
            </a:pPr>
            <a:r>
              <a:rPr lang="en-US" sz="1000" dirty="0"/>
              <a:t>Relief index positively predicts density -&gt; sign</a:t>
            </a:r>
          </a:p>
          <a:p>
            <a:pPr marL="171450" indent="-171450" fontAlgn="base">
              <a:buFontTx/>
              <a:buChar char="-"/>
            </a:pPr>
            <a:endParaRPr lang="en-US" sz="1000" dirty="0"/>
          </a:p>
          <a:p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5046AF-F8FF-0CCE-6BAD-C43B4E52AE0D}"/>
              </a:ext>
            </a:extLst>
          </p:cNvPr>
          <p:cNvSpPr txBox="1"/>
          <p:nvPr/>
        </p:nvSpPr>
        <p:spPr>
          <a:xfrm>
            <a:off x="7794713" y="2802944"/>
            <a:ext cx="137734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AIC: 3707</a:t>
            </a:r>
          </a:p>
          <a:p>
            <a:pPr fontAlgn="base"/>
            <a:r>
              <a:rPr lang="en-US" sz="1000" dirty="0"/>
              <a:t>-Relief index predicts density overall except for PVR Adj sites </a:t>
            </a:r>
          </a:p>
          <a:p>
            <a:pPr fontAlgn="base"/>
            <a:endParaRPr lang="en-US" sz="1000" dirty="0"/>
          </a:p>
          <a:p>
            <a:pPr fontAlgn="base"/>
            <a:r>
              <a:rPr lang="en-US" sz="1000" dirty="0"/>
              <a:t>-Era interacts with both habitat metrics (substrate and relief)</a:t>
            </a:r>
          </a:p>
          <a:p>
            <a:pPr fontAlgn="base"/>
            <a:r>
              <a:rPr lang="en-US" sz="1000" dirty="0"/>
              <a:t> </a:t>
            </a:r>
          </a:p>
          <a:p>
            <a:pPr fontAlgn="base"/>
            <a:r>
              <a:rPr lang="en-US" sz="1000" dirty="0"/>
              <a:t>-Wasting era combined with high substrate reduced density at MPA and PVR Adj sites</a:t>
            </a:r>
          </a:p>
          <a:p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18A261-66EF-968C-B996-495A239C6DBC}"/>
              </a:ext>
            </a:extLst>
          </p:cNvPr>
          <p:cNvSpPr txBox="1"/>
          <p:nvPr/>
        </p:nvSpPr>
        <p:spPr>
          <a:xfrm>
            <a:off x="9650183" y="5637540"/>
            <a:ext cx="25308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AIC: -217</a:t>
            </a:r>
          </a:p>
          <a:p>
            <a:pPr fontAlgn="base"/>
            <a:r>
              <a:rPr lang="en-US" sz="1000" dirty="0"/>
              <a:t>- Habitat metrics did not improve model fit, only Era was successful as a predictor </a:t>
            </a:r>
          </a:p>
          <a:p>
            <a:pPr fontAlgn="base"/>
            <a:r>
              <a:rPr lang="en-US" sz="1000" dirty="0"/>
              <a:t>- There is a dip during wasting following by </a:t>
            </a:r>
            <a:r>
              <a:rPr lang="en-US" sz="1000"/>
              <a:t>partial recovery </a:t>
            </a:r>
            <a:endParaRPr lang="en-US" sz="1000" dirty="0"/>
          </a:p>
          <a:p>
            <a:pPr fontAlgn="base"/>
            <a:r>
              <a:rPr lang="en-US" sz="1000" dirty="0"/>
              <a:t>- Recovery is driven more by time than habitat 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0494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169</Words>
  <Application>Microsoft Macintosh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Player, Alyssa</dc:creator>
  <cp:lastModifiedBy>Player, Alyssa</cp:lastModifiedBy>
  <cp:revision>12</cp:revision>
  <dcterms:created xsi:type="dcterms:W3CDTF">2026-05-27T17:24:22Z</dcterms:created>
  <dcterms:modified xsi:type="dcterms:W3CDTF">2026-05-27T17:49:32Z</dcterms:modified>
</cp:coreProperties>
</file>